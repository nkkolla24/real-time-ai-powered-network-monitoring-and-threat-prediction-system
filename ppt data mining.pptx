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381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0C768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537F67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537F67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008728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97492"/>
              <a:satOff val="-3125"/>
              <a:lumOff val="27021"/>
            </a:schemeClr>
          </a:solidFill>
        </a:fill>
      </a:tcStyle>
    </a:wholeTbl>
    <a:band2H>
      <a:tcTxStyle b="def" i="def"/>
      <a:tcStyle>
        <a:tcBdr/>
        <a:fill>
          <a:solidFill>
            <a:srgbClr val="FFFB00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410732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41073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97492"/>
              <a:satOff val="-3125"/>
              <a:lumOff val="27021"/>
            </a:schemeClr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7370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F9DF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114748"/>
              <a:satOff val="1446"/>
              <a:lumOff val="-896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>
                  <a:hueOff val="114748"/>
                  <a:satOff val="1446"/>
                  <a:lumOff val="-896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6">
              <a:satOff val="-21357"/>
              <a:lumOff val="-20662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5E5E5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782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7839"/>
            <a:ext cx="21971000" cy="2006601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21719"/>
            <a:ext cx="21971000" cy="4648201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eometric grey stone architecture"/>
          <p:cNvSpPr/>
          <p:nvPr>
            <p:ph type="pic" idx="21"/>
          </p:nvPr>
        </p:nvSpPr>
        <p:spPr>
          <a:xfrm>
            <a:off x="0" y="-4381500"/>
            <a:ext cx="24384001" cy="1828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1945"/>
            <a:ext cx="21971000" cy="4648201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eometric grey stone architecture"/>
          <p:cNvSpPr/>
          <p:nvPr>
            <p:ph type="pic" idx="21"/>
          </p:nvPr>
        </p:nvSpPr>
        <p:spPr>
          <a:xfrm>
            <a:off x="5707496" y="-660400"/>
            <a:ext cx="20053301" cy="150420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494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Angular stone architecture in light and shadow"/>
          <p:cNvSpPr/>
          <p:nvPr>
            <p:ph type="pic" idx="22"/>
          </p:nvPr>
        </p:nvSpPr>
        <p:spPr>
          <a:xfrm>
            <a:off x="12382500" y="0"/>
            <a:ext cx="219456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23558500" y="12483845"/>
            <a:ext cx="361188" cy="4041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500" y="3906899"/>
            <a:ext cx="21971004" cy="4648201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6000"/>
              </a:spcBef>
              <a:buSzTx/>
              <a:buNone/>
              <a:defRPr sz="5000"/>
            </a:lvl1pPr>
            <a:lvl2pPr marL="0" indent="457200" defTabSz="825500">
              <a:spcBef>
                <a:spcPts val="6000"/>
              </a:spcBef>
              <a:buSzTx/>
              <a:buNone/>
              <a:defRPr sz="5000"/>
            </a:lvl2pPr>
            <a:lvl3pPr marL="0" indent="914400" defTabSz="825500">
              <a:spcBef>
                <a:spcPts val="6000"/>
              </a:spcBef>
              <a:buSzTx/>
              <a:buNone/>
              <a:defRPr sz="5000"/>
            </a:lvl3pPr>
            <a:lvl4pPr marL="0" indent="1371600" defTabSz="825500">
              <a:spcBef>
                <a:spcPts val="6000"/>
              </a:spcBef>
              <a:buSzTx/>
              <a:buNone/>
              <a:defRPr sz="5000"/>
            </a:lvl4pPr>
            <a:lvl5pPr marL="0" indent="1828800" defTabSz="8255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7360"/>
            <a:ext cx="21971000" cy="7351451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28667"/>
          </a:xfrm>
          <a:prstGeom prst="rect">
            <a:avLst/>
          </a:prstGeom>
        </p:spPr>
        <p:txBody>
          <a:bodyPr anchor="b"/>
          <a:lstStyle>
            <a:lvl1pPr marL="254000" indent="-2540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Attribution"/>
          <p:cNvSpPr txBox="1"/>
          <p:nvPr>
            <p:ph type="body" sz="quarter" idx="21" hasCustomPrompt="1"/>
          </p:nvPr>
        </p:nvSpPr>
        <p:spPr>
          <a:xfrm>
            <a:off x="5456257" y="9559997"/>
            <a:ext cx="13471486" cy="69850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Wavy pink and orange architecture against a blue sky"/>
          <p:cNvSpPr/>
          <p:nvPr>
            <p:ph type="pic" sz="quarter" idx="21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ow-angle view of the corner of a modern building under a clear blue sky"/>
          <p:cNvSpPr/>
          <p:nvPr>
            <p:ph type="pic" sz="quarter" idx="22"/>
          </p:nvPr>
        </p:nvSpPr>
        <p:spPr>
          <a:xfrm>
            <a:off x="146177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Low-angle view of a stone bridge under a partly cloudy sky"/>
          <p:cNvSpPr/>
          <p:nvPr>
            <p:ph type="pic" sz="quarter" idx="23"/>
          </p:nvPr>
        </p:nvSpPr>
        <p:spPr>
          <a:xfrm>
            <a:off x="61386" y="3632200"/>
            <a:ext cx="9690101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-angle view of a modern, metal building"/>
          <p:cNvSpPr/>
          <p:nvPr>
            <p:ph type="pic" idx="21"/>
          </p:nvPr>
        </p:nvSpPr>
        <p:spPr>
          <a:xfrm>
            <a:off x="-38100" y="-1295400"/>
            <a:ext cx="24447500" cy="1629551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23558500" y="12483845"/>
            <a:ext cx="361188" cy="4041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4B60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60642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500" y="12458699"/>
            <a:ext cx="388620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am Members:…"/>
          <p:cNvSpPr txBox="1"/>
          <p:nvPr>
            <p:ph type="subTitle" idx="1"/>
          </p:nvPr>
        </p:nvSpPr>
        <p:spPr>
          <a:xfrm>
            <a:off x="1206500" y="5244567"/>
            <a:ext cx="21971000" cy="7449735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2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Team Members:</a:t>
            </a:r>
            <a:endParaRPr b="0"/>
          </a:p>
          <a:p>
            <a:pPr algn="just" defTabSz="457200">
              <a:spcBef>
                <a:spcPts val="120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 Naveen Kumar Kolla - 11801246 - Team Lead</a:t>
            </a:r>
          </a:p>
          <a:p>
            <a:pPr algn="just" defTabSz="457200">
              <a:spcBef>
                <a:spcPts val="120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 Rahul Reddy Kesari - 11816160</a:t>
            </a:r>
          </a:p>
          <a:p>
            <a:pPr algn="just" defTabSz="457200">
              <a:spcBef>
                <a:spcPts val="120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 Satya Santhosh Kumar Puram - 11820588</a:t>
            </a:r>
          </a:p>
          <a:p>
            <a:pPr algn="just" defTabSz="457200">
              <a:spcBef>
                <a:spcPts val="120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Aditya Narayana Reddy Nallimilli - 11805743</a:t>
            </a:r>
          </a:p>
        </p:txBody>
      </p:sp>
      <p:sp>
        <p:nvSpPr>
          <p:cNvPr id="172" name="Real-Time AI-Powered Network Monitoring and Threat Prediction System"/>
          <p:cNvSpPr txBox="1"/>
          <p:nvPr>
            <p:ph type="ctrTitle"/>
          </p:nvPr>
        </p:nvSpPr>
        <p:spPr>
          <a:xfrm>
            <a:off x="1206500" y="1628305"/>
            <a:ext cx="21971000" cy="4818892"/>
          </a:xfrm>
          <a:prstGeom prst="rect">
            <a:avLst/>
          </a:prstGeom>
        </p:spPr>
        <p:txBody>
          <a:bodyPr/>
          <a:lstStyle/>
          <a:p>
            <a:pPr defTabSz="457200">
              <a:lnSpc>
                <a:spcPct val="100000"/>
              </a:lnSpc>
              <a:spcBef>
                <a:spcPts val="1200"/>
              </a:spcBef>
              <a:defRPr spc="0" sz="6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Real-Time AI-Powered Network Monitoring and Threat Prediction System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pc="0" sz="60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173" name="Data Mining"/>
          <p:cNvSpPr txBox="1"/>
          <p:nvPr/>
        </p:nvSpPr>
        <p:spPr>
          <a:xfrm>
            <a:off x="1783738" y="-69348"/>
            <a:ext cx="21971001" cy="2338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defTabSz="457200">
              <a:spcBef>
                <a:spcPts val="1200"/>
              </a:spcBef>
              <a:defRPr sz="65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                                       Data Mining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his project is aimed at creating a network traffic monitoring system based on AI in real-time.…"/>
          <p:cNvSpPr txBox="1"/>
          <p:nvPr>
            <p:ph type="subTitle" idx="1"/>
          </p:nvPr>
        </p:nvSpPr>
        <p:spPr>
          <a:xfrm>
            <a:off x="1016925" y="2909414"/>
            <a:ext cx="21971001" cy="9908185"/>
          </a:xfrm>
          <a:prstGeom prst="rect">
            <a:avLst/>
          </a:prstGeom>
        </p:spPr>
        <p:txBody>
          <a:bodyPr/>
          <a:lstStyle/>
          <a:p>
            <a:pPr indent="11937" defTabSz="429768">
              <a:defRPr sz="56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project is aimed at creating a network traffic monitoring system based on AI in real-time.</a:t>
            </a:r>
          </a:p>
          <a:p>
            <a:pPr defTabSz="429768">
              <a:defRPr sz="56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Conventional systems are rule-based detection systems that cannot detect unknown and zero-day attacks.</a:t>
            </a:r>
          </a:p>
          <a:p>
            <a:pPr defTabSz="429768">
              <a:defRPr sz="56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Our system uses:</a:t>
            </a:r>
          </a:p>
          <a:p>
            <a:pPr defTabSz="429768">
              <a:defRPr sz="56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Machine Learning</a:t>
            </a:r>
          </a:p>
          <a:p>
            <a:pPr defTabSz="429768">
              <a:defRPr sz="56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Data Mining</a:t>
            </a:r>
          </a:p>
          <a:p>
            <a:pPr defTabSz="429768">
              <a:defRPr sz="56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Time-Series Analysis.</a:t>
            </a:r>
          </a:p>
          <a:p>
            <a:pPr defTabSz="429768">
              <a:defRPr sz="56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identifies irregularities in real-time and anticipates threats or failures in the future.</a:t>
            </a:r>
          </a:p>
          <a:p>
            <a:pPr defTabSz="429768">
              <a:defRPr sz="56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visualization and alerts are carried out in a live dashboard.</a:t>
            </a:r>
          </a:p>
        </p:txBody>
      </p:sp>
      <p:sp>
        <p:nvSpPr>
          <p:cNvPr id="176" name="Abstract:"/>
          <p:cNvSpPr txBox="1"/>
          <p:nvPr>
            <p:ph type="ctrTitle"/>
          </p:nvPr>
        </p:nvSpPr>
        <p:spPr>
          <a:xfrm>
            <a:off x="1016925" y="-2283518"/>
            <a:ext cx="21971001" cy="4648201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65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Abstract: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al-time network traffic monitoring.…"/>
          <p:cNvSpPr txBox="1"/>
          <p:nvPr>
            <p:ph type="subTitle" idx="1"/>
          </p:nvPr>
        </p:nvSpPr>
        <p:spPr>
          <a:xfrm>
            <a:off x="1396074" y="3397049"/>
            <a:ext cx="21971001" cy="11132736"/>
          </a:xfrm>
          <a:prstGeom prst="rect">
            <a:avLst/>
          </a:prstGeom>
        </p:spPr>
        <p:txBody>
          <a:bodyPr/>
          <a:lstStyle/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Real-time network traffic monitoring.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Elaborate important characteristics such as: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Packet size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Protocol type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Traffic rate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Identify: Red flags, Oddities.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Predict: Future attacks, Network failures.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Provide:Live dashboard with alerts</a:t>
            </a:r>
          </a:p>
        </p:txBody>
      </p:sp>
      <p:sp>
        <p:nvSpPr>
          <p:cNvPr id="179" name="Project Objectives:"/>
          <p:cNvSpPr txBox="1"/>
          <p:nvPr>
            <p:ph type="ctrTitle"/>
          </p:nvPr>
        </p:nvSpPr>
        <p:spPr>
          <a:xfrm>
            <a:off x="1396074" y="-2141337"/>
            <a:ext cx="21971001" cy="4648201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6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Project Objectives: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he networks today produce huge data per second.…"/>
          <p:cNvSpPr txBox="1"/>
          <p:nvPr>
            <p:ph type="subTitle" idx="1"/>
          </p:nvPr>
        </p:nvSpPr>
        <p:spPr>
          <a:xfrm>
            <a:off x="1040622" y="3393115"/>
            <a:ext cx="21971001" cy="9936048"/>
          </a:xfrm>
          <a:prstGeom prst="rect">
            <a:avLst/>
          </a:prstGeom>
        </p:spPr>
        <p:txBody>
          <a:bodyPr/>
          <a:lstStyle/>
          <a:p>
            <a:pPr defTabSz="457200">
              <a:defRPr sz="6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networks today produce huge data per second.</a:t>
            </a:r>
          </a:p>
          <a:p>
            <a:pPr defTabSz="457200">
              <a:defRPr sz="6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Manual monitoring is:</a:t>
            </a:r>
          </a:p>
          <a:p>
            <a:pPr defTabSz="457200">
              <a:defRPr sz="6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Time-consuming and Inefficient</a:t>
            </a:r>
          </a:p>
          <a:p>
            <a:pPr defTabSz="457200">
              <a:defRPr sz="6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Existing systems:</a:t>
            </a:r>
          </a:p>
          <a:p>
            <a:pPr defTabSz="457200">
              <a:defRPr sz="6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Relied on pre-existing regulations.</a:t>
            </a:r>
          </a:p>
          <a:p>
            <a:pPr defTabSz="457200">
              <a:defRPr sz="6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It is unable to detect new or evolving attack.</a:t>
            </a:r>
          </a:p>
          <a:p>
            <a:pPr defTabSz="457200">
              <a:defRPr sz="6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Adaptive system with Real-time detection and Predictive capability</a:t>
            </a:r>
          </a:p>
        </p:txBody>
      </p:sp>
      <p:sp>
        <p:nvSpPr>
          <p:cNvPr id="182" name="Problem Statement:"/>
          <p:cNvSpPr txBox="1"/>
          <p:nvPr>
            <p:ph type="ctrTitle"/>
          </p:nvPr>
        </p:nvSpPr>
        <p:spPr>
          <a:xfrm>
            <a:off x="1040622" y="-1264555"/>
            <a:ext cx="21971001" cy="4648201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6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Problem Statement: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rogramming &amp; Libraries :Python ,Pandas, NumPy…"/>
          <p:cNvSpPr txBox="1"/>
          <p:nvPr>
            <p:ph type="subTitle" idx="1"/>
          </p:nvPr>
        </p:nvSpPr>
        <p:spPr>
          <a:xfrm>
            <a:off x="1206500" y="2775367"/>
            <a:ext cx="21971000" cy="9370588"/>
          </a:xfrm>
          <a:prstGeom prst="rect">
            <a:avLst/>
          </a:prstGeom>
        </p:spPr>
        <p:txBody>
          <a:bodyPr/>
          <a:lstStyle/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Programming &amp; Libraries :Python ,Pandas, NumPy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Learning: Scikit-learn, TensorFlow / PyTorch.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Network Analysis: Scapy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Visualization : Stream lit ,  Dashboard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Optional Tools: Weka, RapidMiner</a:t>
            </a:r>
          </a:p>
        </p:txBody>
      </p:sp>
      <p:sp>
        <p:nvSpPr>
          <p:cNvPr id="185" name="Tools &amp; Technologies:"/>
          <p:cNvSpPr txBox="1"/>
          <p:nvPr>
            <p:ph type="ctrTitle"/>
          </p:nvPr>
        </p:nvSpPr>
        <p:spPr>
          <a:xfrm>
            <a:off x="1206500" y="-2221721"/>
            <a:ext cx="21971000" cy="4648201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6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Tools &amp; Technologies: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1. CICIDS2017 Dataset:…"/>
          <p:cNvSpPr txBox="1"/>
          <p:nvPr>
            <p:ph type="subTitle" idx="1"/>
          </p:nvPr>
        </p:nvSpPr>
        <p:spPr>
          <a:xfrm>
            <a:off x="1206500" y="2707251"/>
            <a:ext cx="21971000" cy="10541519"/>
          </a:xfrm>
          <a:prstGeom prst="rect">
            <a:avLst/>
          </a:prstGeom>
        </p:spPr>
        <p:txBody>
          <a:bodyPr/>
          <a:lstStyle/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1. CICIDS2017 Dataset:</a:t>
            </a:r>
          </a:p>
          <a:p>
            <a:pPr defTabSz="457200">
              <a:def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Has realistic network traffic.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2.8 million network flows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80 features and Includes labeled attacks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2. NSL-KDD Dataset: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Better adaptation of KDD 1999.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125,000 instances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41 features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3. Real-Time Data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Sniffed with packet sniffing (Scapy)</a:t>
            </a:r>
          </a:p>
        </p:txBody>
      </p:sp>
      <p:sp>
        <p:nvSpPr>
          <p:cNvPr id="188" name="Datasets :"/>
          <p:cNvSpPr txBox="1"/>
          <p:nvPr>
            <p:ph type="ctrTitle"/>
          </p:nvPr>
        </p:nvSpPr>
        <p:spPr>
          <a:xfrm>
            <a:off x="1206500" y="-1477827"/>
            <a:ext cx="21971000" cy="4648201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6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Datasets 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Applied to classify network traffic:…"/>
          <p:cNvSpPr txBox="1"/>
          <p:nvPr>
            <p:ph type="subTitle" idx="1"/>
          </p:nvPr>
        </p:nvSpPr>
        <p:spPr>
          <a:xfrm>
            <a:off x="922138" y="2840082"/>
            <a:ext cx="21971001" cy="10683423"/>
          </a:xfrm>
          <a:prstGeom prst="rect">
            <a:avLst/>
          </a:prstGeom>
        </p:spPr>
        <p:txBody>
          <a:bodyPr/>
          <a:lstStyle/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Applied to classify network traffic: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Decision Tree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Random Forest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Support Vector Machine (SVM).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K-Nearest Neighbors (KNN)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Naive Bayes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Multi-layer perceptron (Neural Networks)</a:t>
            </a:r>
          </a:p>
        </p:txBody>
      </p:sp>
      <p:sp>
        <p:nvSpPr>
          <p:cNvPr id="191" name="Machine Learning Algorithms:"/>
          <p:cNvSpPr txBox="1"/>
          <p:nvPr>
            <p:ph type="ctrTitle"/>
          </p:nvPr>
        </p:nvSpPr>
        <p:spPr>
          <a:xfrm>
            <a:off x="922138" y="-1311949"/>
            <a:ext cx="21971001" cy="4648201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6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Machine Learning Algorithms: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Employed to detect unrecognised attacks.…"/>
          <p:cNvSpPr txBox="1"/>
          <p:nvPr>
            <p:ph type="subTitle" idx="1"/>
          </p:nvPr>
        </p:nvSpPr>
        <p:spPr>
          <a:xfrm>
            <a:off x="898441" y="3491281"/>
            <a:ext cx="21971001" cy="9739716"/>
          </a:xfrm>
          <a:prstGeom prst="rect">
            <a:avLst/>
          </a:prstGeom>
        </p:spPr>
        <p:txBody>
          <a:bodyPr/>
          <a:lstStyle/>
          <a:p>
            <a:pPr defTabSz="388620">
              <a:defRPr sz="5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Employed to detect unrecognised attacks.</a:t>
            </a:r>
          </a:p>
          <a:p>
            <a:pPr defTabSz="388620">
              <a:defRPr sz="5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Isolation Forest</a:t>
            </a:r>
          </a:p>
          <a:p>
            <a:pPr defTabSz="388620">
              <a:defRPr sz="5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One-Class SVM</a:t>
            </a:r>
          </a:p>
          <a:p>
            <a:pPr defTabSz="388620">
              <a:defRPr sz="5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Learn normal behaviour</a:t>
            </a:r>
          </a:p>
          <a:p>
            <a:pPr defTabSz="388620">
              <a:defRPr sz="5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Detect deviations (anomalies)</a:t>
            </a:r>
          </a:p>
          <a:p>
            <a:pPr defTabSz="388620">
              <a:defRPr sz="5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388620">
              <a:defRPr sz="5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Applied to forecast the behaviour of the network in the future.</a:t>
            </a:r>
          </a:p>
          <a:p>
            <a:pPr defTabSz="388620">
              <a:defRPr sz="5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ARIMA Model</a:t>
            </a:r>
          </a:p>
          <a:p>
            <a:pPr defTabSz="388620">
              <a:defRPr sz="5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LSTM (Deep Learning)</a:t>
            </a:r>
          </a:p>
          <a:p>
            <a:pPr defTabSz="388620">
              <a:defRPr sz="5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Predicting traffic spikes</a:t>
            </a:r>
          </a:p>
          <a:p>
            <a:pPr defTabSz="388620">
              <a:defRPr sz="5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Detecting system overload</a:t>
            </a:r>
          </a:p>
          <a:p>
            <a:pPr defTabSz="388620">
              <a:defRPr sz="5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Preventing failures</a:t>
            </a:r>
          </a:p>
        </p:txBody>
      </p:sp>
      <p:sp>
        <p:nvSpPr>
          <p:cNvPr id="194" name="Anomaly Detection Techniques &amp;Time-Series Prediction:"/>
          <p:cNvSpPr txBox="1"/>
          <p:nvPr>
            <p:ph type="ctrTitle"/>
          </p:nvPr>
        </p:nvSpPr>
        <p:spPr>
          <a:xfrm>
            <a:off x="898441" y="-980194"/>
            <a:ext cx="21971001" cy="4648201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6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Anomaly Detection Techniques &amp;Time-Series Prediction: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Data Collection = Datasets + Real-time traffic…"/>
          <p:cNvSpPr txBox="1"/>
          <p:nvPr>
            <p:ph type="subTitle" idx="1"/>
          </p:nvPr>
        </p:nvSpPr>
        <p:spPr>
          <a:xfrm>
            <a:off x="1206500" y="3061592"/>
            <a:ext cx="21971000" cy="10246420"/>
          </a:xfrm>
          <a:prstGeom prst="rect">
            <a:avLst/>
          </a:prstGeom>
        </p:spPr>
        <p:txBody>
          <a:bodyPr/>
          <a:lstStyle/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Collection = Datasets + Real-time traffic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Packet features = Feature Extraction.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Preprocessing = Cleaning &amp; normalisation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ML &amp; DL models = Model Training.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Prediction = Detect anomalies &amp; threats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Visualization = Dashboard + Alerts</a:t>
            </a:r>
          </a:p>
        </p:txBody>
      </p:sp>
      <p:sp>
        <p:nvSpPr>
          <p:cNvPr id="197" name="System Architecture:"/>
          <p:cNvSpPr txBox="1"/>
          <p:nvPr>
            <p:ph type="ctrTitle"/>
          </p:nvPr>
        </p:nvSpPr>
        <p:spPr>
          <a:xfrm>
            <a:off x="993228" y="-2236124"/>
            <a:ext cx="21971001" cy="4648201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6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System Architecture: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Outcomes:"/>
          <p:cNvSpPr txBox="1"/>
          <p:nvPr>
            <p:ph type="ctrTitle"/>
          </p:nvPr>
        </p:nvSpPr>
        <p:spPr>
          <a:xfrm>
            <a:off x="1206500" y="-1217162"/>
            <a:ext cx="21971000" cy="4648201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6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Outcomes:</a:t>
            </a:r>
          </a:p>
        </p:txBody>
      </p:sp>
      <p:pic>
        <p:nvPicPr>
          <p:cNvPr id="200" name="Screenshot 2026-04-18 at 12.29.37 PM.png" descr="Screenshot 2026-04-18 at 12.29.3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6500" y="2821091"/>
            <a:ext cx="22191122" cy="91638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Outcomes:"/>
          <p:cNvSpPr txBox="1"/>
          <p:nvPr>
            <p:ph type="ctrTitle"/>
          </p:nvPr>
        </p:nvSpPr>
        <p:spPr>
          <a:xfrm>
            <a:off x="1206500" y="-1217162"/>
            <a:ext cx="21971000" cy="4648201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6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Outcomes:</a:t>
            </a:r>
          </a:p>
        </p:txBody>
      </p:sp>
      <p:pic>
        <p:nvPicPr>
          <p:cNvPr id="203" name="Screenshot 2026-04-18 at 12.27.54 PM.png" descr="Screenshot 2026-04-18 at 12.27.5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5715" y="2761576"/>
            <a:ext cx="11766445" cy="890498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Screenshot 2026-04-18 at 12.31.20 PM.png" descr="Screenshot 2026-04-18 at 12.31.20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332703" y="2748415"/>
            <a:ext cx="11766446" cy="77714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Outcomes:"/>
          <p:cNvSpPr txBox="1"/>
          <p:nvPr>
            <p:ph type="ctrTitle"/>
          </p:nvPr>
        </p:nvSpPr>
        <p:spPr>
          <a:xfrm>
            <a:off x="969532" y="-538193"/>
            <a:ext cx="21971001" cy="3139844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6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Outcomes:</a:t>
            </a:r>
          </a:p>
        </p:txBody>
      </p:sp>
      <p:pic>
        <p:nvPicPr>
          <p:cNvPr id="207" name="Screenshot 2026-04-18 at 12.33.25 PM.png" descr="Screenshot 2026-04-18 at 12.33.2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33466" y="2147703"/>
            <a:ext cx="19643132" cy="112372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Detects zero-day attacks.…"/>
          <p:cNvSpPr txBox="1"/>
          <p:nvPr>
            <p:ph type="subTitle" idx="1"/>
          </p:nvPr>
        </p:nvSpPr>
        <p:spPr>
          <a:xfrm>
            <a:off x="1206500" y="3022992"/>
            <a:ext cx="21971000" cy="9121563"/>
          </a:xfrm>
          <a:prstGeom prst="rect">
            <a:avLst/>
          </a:prstGeom>
        </p:spPr>
        <p:txBody>
          <a:bodyPr/>
          <a:lstStyle/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Detects zero-day attacks.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Works in real-time.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Reduces manual effort.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Improves system reliability.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Scalable and adaptable.</a:t>
            </a:r>
          </a:p>
        </p:txBody>
      </p:sp>
      <p:sp>
        <p:nvSpPr>
          <p:cNvPr id="210" name="Advantages:"/>
          <p:cNvSpPr txBox="1"/>
          <p:nvPr>
            <p:ph type="ctrTitle"/>
          </p:nvPr>
        </p:nvSpPr>
        <p:spPr>
          <a:xfrm>
            <a:off x="1419771" y="-1427193"/>
            <a:ext cx="21971001" cy="4881929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6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Advantages: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AI + Data Mining improves network security systems…"/>
          <p:cNvSpPr txBox="1"/>
          <p:nvPr>
            <p:ph type="subTitle" idx="1"/>
          </p:nvPr>
        </p:nvSpPr>
        <p:spPr>
          <a:xfrm>
            <a:off x="1206500" y="3069367"/>
            <a:ext cx="21971000" cy="6295073"/>
          </a:xfrm>
          <a:prstGeom prst="rect">
            <a:avLst/>
          </a:prstGeom>
        </p:spPr>
        <p:txBody>
          <a:bodyPr/>
          <a:lstStyle/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AI + Data Mining improves network security systems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System is:Intelligent with Adaptive nature along with Predictive analysis..</a:t>
            </a:r>
          </a:p>
          <a:p>
            <a:pPr defTabSz="457200"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Helps organizations change: Reactive to Proactive security.</a:t>
            </a:r>
          </a:p>
        </p:txBody>
      </p:sp>
      <p:sp>
        <p:nvSpPr>
          <p:cNvPr id="213" name="Conclusion:"/>
          <p:cNvSpPr txBox="1"/>
          <p:nvPr>
            <p:ph type="ctrTitle"/>
          </p:nvPr>
        </p:nvSpPr>
        <p:spPr>
          <a:xfrm>
            <a:off x="1206500" y="-1240859"/>
            <a:ext cx="21971000" cy="4648201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6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 Conclusion: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7_MinimalistDark">
  <a:themeElements>
    <a:clrScheme name="37_MinimalistDark">
      <a:dk1>
        <a:srgbClr val="4B6079"/>
      </a:dk1>
      <a:lt1>
        <a:srgbClr val="FFFFFF"/>
      </a:lt1>
      <a:dk2>
        <a:srgbClr val="6F6F6F"/>
      </a:dk2>
      <a:lt2>
        <a:srgbClr val="D5D5D5"/>
      </a:lt2>
      <a:accent1>
        <a:srgbClr val="9BAABB"/>
      </a:accent1>
      <a:accent2>
        <a:srgbClr val="4CECD6"/>
      </a:accent2>
      <a:accent3>
        <a:srgbClr val="31FD29"/>
      </a:accent3>
      <a:accent4>
        <a:srgbClr val="FEFB00"/>
      </a:accent4>
      <a:accent5>
        <a:srgbClr val="F8ADB9"/>
      </a:accent5>
      <a:accent6>
        <a:srgbClr val="DE9DFE"/>
      </a:accent6>
      <a:hlink>
        <a:srgbClr val="0000FF"/>
      </a:hlink>
      <a:folHlink>
        <a:srgbClr val="FF00FF"/>
      </a:folHlink>
    </a:clrScheme>
    <a:fontScheme name="37_MinimalistDark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7_Minimalist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chemeClr val="accent1">
                <a:satOff val="5092"/>
                <a:lumOff val="-28652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7_MinimalistDark">
  <a:themeElements>
    <a:clrScheme name="37_MinimalistDark">
      <a:dk1>
        <a:srgbClr val="000000"/>
      </a:dk1>
      <a:lt1>
        <a:srgbClr val="FFFFFF"/>
      </a:lt1>
      <a:dk2>
        <a:srgbClr val="6F6F6F"/>
      </a:dk2>
      <a:lt2>
        <a:srgbClr val="D5D5D5"/>
      </a:lt2>
      <a:accent1>
        <a:srgbClr val="9BAABB"/>
      </a:accent1>
      <a:accent2>
        <a:srgbClr val="4CECD6"/>
      </a:accent2>
      <a:accent3>
        <a:srgbClr val="31FD29"/>
      </a:accent3>
      <a:accent4>
        <a:srgbClr val="FEFB00"/>
      </a:accent4>
      <a:accent5>
        <a:srgbClr val="F8ADB9"/>
      </a:accent5>
      <a:accent6>
        <a:srgbClr val="DE9DFE"/>
      </a:accent6>
      <a:hlink>
        <a:srgbClr val="0000FF"/>
      </a:hlink>
      <a:folHlink>
        <a:srgbClr val="FF00FF"/>
      </a:folHlink>
    </a:clrScheme>
    <a:fontScheme name="37_MinimalistDark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7_Minimalist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chemeClr val="accent1">
                <a:satOff val="5092"/>
                <a:lumOff val="-28652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